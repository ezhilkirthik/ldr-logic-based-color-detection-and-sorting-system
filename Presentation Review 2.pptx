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nva Sans" panose="020B0604020202020204" charset="0"/>
      <p:regular r:id="rId12"/>
    </p:embeddedFont>
    <p:embeddedFont>
      <p:font typeface="Libre Baskerville" panose="02000000000000000000" pitchFamily="2" charset="0"/>
      <p:regular r:id="rId13"/>
      <p:bold r:id="rId14"/>
      <p:italic r:id="rId15"/>
    </p:embeddedFont>
    <p:embeddedFont>
      <p:font typeface="Libre Baskerville Bold" panose="02000000000000000000" pitchFamily="2" charset="0"/>
      <p:regular r:id="rId16"/>
      <p:bold r:id="rId17"/>
    </p:embeddedFont>
    <p:embeddedFont>
      <p:font typeface="Neue Machina" panose="020B0604020202020204" charset="0"/>
      <p:regular r:id="rId18"/>
    </p:embeddedFont>
    <p:embeddedFont>
      <p:font typeface="Sanchez" panose="020B0604020202020204" charset="0"/>
      <p:regular r:id="rId19"/>
    </p:embeddedFont>
    <p:embeddedFont>
      <p:font typeface="Yeseva One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2BA34F-2EB6-8A49-675B-BD1E2C6DDEB5}" v="1" dt="2025-10-10T10:28:12.3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954" y="7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ZHILKIRTHIK M-[CB.EN.U4ECE23016]" userId="S::cb.en.u4ece23016@cb.students.amrita.edu::6f4075cf-aea0-46ee-a00d-a608872a5820" providerId="AD" clId="Web-{C22BA34F-2EB6-8A49-675B-BD1E2C6DDEB5}"/>
    <pc:docChg chg="modSld">
      <pc:chgData name="EZHILKIRTHIK M-[CB.EN.U4ECE23016]" userId="S::cb.en.u4ece23016@cb.students.amrita.edu::6f4075cf-aea0-46ee-a00d-a608872a5820" providerId="AD" clId="Web-{C22BA34F-2EB6-8A49-675B-BD1E2C6DDEB5}" dt="2025-10-10T10:28:12.345" v="0" actId="14100"/>
      <pc:docMkLst>
        <pc:docMk/>
      </pc:docMkLst>
      <pc:sldChg chg="modSp">
        <pc:chgData name="EZHILKIRTHIK M-[CB.EN.U4ECE23016]" userId="S::cb.en.u4ece23016@cb.students.amrita.edu::6f4075cf-aea0-46ee-a00d-a608872a5820" providerId="AD" clId="Web-{C22BA34F-2EB6-8A49-675B-BD1E2C6DDEB5}" dt="2025-10-10T10:28:12.345" v="0" actId="14100"/>
        <pc:sldMkLst>
          <pc:docMk/>
          <pc:sldMk cId="0" sldId="262"/>
        </pc:sldMkLst>
        <pc:spChg chg="mod">
          <ac:chgData name="EZHILKIRTHIK M-[CB.EN.U4ECE23016]" userId="S::cb.en.u4ece23016@cb.students.amrita.edu::6f4075cf-aea0-46ee-a00d-a608872a5820" providerId="AD" clId="Web-{C22BA34F-2EB6-8A49-675B-BD1E2C6DDEB5}" dt="2025-10-10T10:28:12.345" v="0" actId="14100"/>
          <ac:spMkLst>
            <pc:docMk/>
            <pc:sldMk cId="0" sldId="262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sv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community.element14.com/challenges-projects/project14/photonics/b/blog/posts/wwcs---world-s-worst-color-sensor---project-14-photonics-challenge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607888" y="-1326905"/>
            <a:ext cx="6626483" cy="5715000"/>
          </a:xfrm>
          <a:custGeom>
            <a:avLst/>
            <a:gdLst/>
            <a:ahLst/>
            <a:cxnLst/>
            <a:rect l="l" t="t" r="r" b="b"/>
            <a:pathLst>
              <a:path w="6626483" h="5715000">
                <a:moveTo>
                  <a:pt x="0" y="0"/>
                </a:moveTo>
                <a:lnTo>
                  <a:pt x="6626484" y="0"/>
                </a:lnTo>
                <a:lnTo>
                  <a:pt x="6626484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266137">
            <a:off x="-2004375" y="-3360568"/>
            <a:ext cx="5210769" cy="6721137"/>
          </a:xfrm>
          <a:custGeom>
            <a:avLst/>
            <a:gdLst/>
            <a:ahLst/>
            <a:cxnLst/>
            <a:rect l="l" t="t" r="r" b="b"/>
            <a:pathLst>
              <a:path w="5210769" h="6721137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569636">
            <a:off x="17464600" y="4867716"/>
            <a:ext cx="4096053" cy="7060062"/>
          </a:xfrm>
          <a:custGeom>
            <a:avLst/>
            <a:gdLst/>
            <a:ahLst/>
            <a:cxnLst/>
            <a:rect l="l" t="t" r="r" b="b"/>
            <a:pathLst>
              <a:path w="4096053" h="7060062">
                <a:moveTo>
                  <a:pt x="0" y="0"/>
                </a:moveTo>
                <a:lnTo>
                  <a:pt x="4096053" y="0"/>
                </a:lnTo>
                <a:lnTo>
                  <a:pt x="4096053" y="7060061"/>
                </a:lnTo>
                <a:lnTo>
                  <a:pt x="0" y="70600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3755510">
            <a:off x="14637629" y="5499669"/>
            <a:ext cx="4096053" cy="7060062"/>
          </a:xfrm>
          <a:custGeom>
            <a:avLst/>
            <a:gdLst/>
            <a:ahLst/>
            <a:cxnLst/>
            <a:rect l="l" t="t" r="r" b="b"/>
            <a:pathLst>
              <a:path w="4096053" h="7060062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35896" y="57150"/>
            <a:ext cx="11721636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Amrita Vishwa Vidyapeetham</a:t>
            </a: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Department of Electronics and Communication Engineering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3620502" y="7383918"/>
            <a:ext cx="11721636" cy="53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 u="sng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Presented by 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5862" y="3665353"/>
            <a:ext cx="18288000" cy="3204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6600" dirty="0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LDR Logic-Based Color Detection and Sorting System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324" y="7903152"/>
            <a:ext cx="9492020" cy="18049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Aathithya Pranav   -  CB.EN.U4ECE23002</a:t>
            </a:r>
          </a:p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Adarsh B                -  CB.EN.U4ECE23004</a:t>
            </a:r>
          </a:p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Ezhilkirthik M        -  CB.EN.U4ECE23016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13838" y="8923276"/>
            <a:ext cx="3301482" cy="868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dirty="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Batch-A2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50882" y="1133798"/>
            <a:ext cx="7458228" cy="1820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u="sng" dirty="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23ECE381 Open Lab- 1</a:t>
            </a:r>
          </a:p>
          <a:p>
            <a:pPr algn="ctr">
              <a:lnSpc>
                <a:spcPts val="7279"/>
              </a:lnSpc>
            </a:pPr>
            <a:r>
              <a:rPr lang="en-US" sz="5199" u="sng" dirty="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Review 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95648" y="1036771"/>
            <a:ext cx="8496705" cy="1214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60"/>
              </a:lnSpc>
            </a:pPr>
            <a:r>
              <a:rPr lang="en-US" sz="906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Abstract</a:t>
            </a:r>
          </a:p>
        </p:txBody>
      </p:sp>
      <p:sp>
        <p:nvSpPr>
          <p:cNvPr id="3" name="Freeform 3"/>
          <p:cNvSpPr/>
          <p:nvPr/>
        </p:nvSpPr>
        <p:spPr>
          <a:xfrm>
            <a:off x="15226905" y="-3463873"/>
            <a:ext cx="6626483" cy="5715000"/>
          </a:xfrm>
          <a:custGeom>
            <a:avLst/>
            <a:gdLst/>
            <a:ahLst/>
            <a:cxnLst/>
            <a:rect l="l" t="t" r="r" b="b"/>
            <a:pathLst>
              <a:path w="6626483" h="5715000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266137">
            <a:off x="-881333" y="7169717"/>
            <a:ext cx="5210769" cy="6721137"/>
          </a:xfrm>
          <a:custGeom>
            <a:avLst/>
            <a:gdLst/>
            <a:ahLst/>
            <a:cxnLst/>
            <a:rect l="l" t="t" r="r" b="b"/>
            <a:pathLst>
              <a:path w="5210769" h="6721137">
                <a:moveTo>
                  <a:pt x="0" y="0"/>
                </a:moveTo>
                <a:lnTo>
                  <a:pt x="5210769" y="0"/>
                </a:lnTo>
                <a:lnTo>
                  <a:pt x="5210769" y="6721137"/>
                </a:lnTo>
                <a:lnTo>
                  <a:pt x="0" y="67211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569636">
            <a:off x="350137" y="-2501331"/>
            <a:ext cx="4096053" cy="7060062"/>
          </a:xfrm>
          <a:custGeom>
            <a:avLst/>
            <a:gdLst/>
            <a:ahLst/>
            <a:cxnLst/>
            <a:rect l="l" t="t" r="r" b="b"/>
            <a:pathLst>
              <a:path w="4096053" h="7060062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3755510">
            <a:off x="14576275" y="5856670"/>
            <a:ext cx="4096053" cy="7060062"/>
          </a:xfrm>
          <a:custGeom>
            <a:avLst/>
            <a:gdLst/>
            <a:ahLst/>
            <a:cxnLst/>
            <a:rect l="l" t="t" r="r" b="b"/>
            <a:pathLst>
              <a:path w="4096053" h="7060062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15114" y="2286477"/>
            <a:ext cx="17504292" cy="6311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11" lvl="1" indent="-323856" algn="l">
              <a:lnSpc>
                <a:spcPts val="633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Detects and sorts 7 surface colors in real time using optics, LDRs, and digital logic.</a:t>
            </a:r>
          </a:p>
          <a:p>
            <a:pPr marL="647711" lvl="1" indent="-323856" algn="l">
              <a:lnSpc>
                <a:spcPts val="633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White LED ensures consistent illumination for accurate color detection.</a:t>
            </a:r>
          </a:p>
          <a:p>
            <a:pPr marL="647711" lvl="1" indent="-323856" algn="l">
              <a:lnSpc>
                <a:spcPts val="633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Three LDRs with RGB filters sense reflected light from the object.</a:t>
            </a:r>
          </a:p>
          <a:p>
            <a:pPr marL="647711" lvl="1" indent="-323856" algn="l">
              <a:lnSpc>
                <a:spcPts val="633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Comparator circuits convert analog signals into a unique 3-bit digital code.</a:t>
            </a:r>
          </a:p>
          <a:p>
            <a:pPr marL="647711" lvl="1" indent="-323856" algn="l">
              <a:lnSpc>
                <a:spcPts val="633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Decoder interprets the code to identify the color.</a:t>
            </a:r>
          </a:p>
          <a:p>
            <a:pPr marL="647711" lvl="1" indent="-323856" algn="l">
              <a:lnSpc>
                <a:spcPts val="633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Servo motor directs the object to the correct sorting bin.</a:t>
            </a:r>
          </a:p>
          <a:p>
            <a:pPr marL="647711" lvl="1" indent="-323856" algn="l">
              <a:lnSpc>
                <a:spcPts val="633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Entire system works on analog + digital components</a:t>
            </a:r>
          </a:p>
          <a:p>
            <a:pPr algn="l">
              <a:lnSpc>
                <a:spcPts val="6330"/>
              </a:lnSpc>
            </a:pPr>
            <a:endParaRPr lang="en-US" sz="300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0" y="870321"/>
          <a:ext cx="18288000" cy="9135301"/>
        </p:xfrm>
        <a:graphic>
          <a:graphicData uri="http://schemas.openxmlformats.org/drawingml/2006/table">
            <a:tbl>
              <a:tblPr/>
              <a:tblGrid>
                <a:gridCol w="5081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5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507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8800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Title of Paper/Website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000000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Source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Inferences from this Paper/Website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3518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Conveyor Line Color Object Sorting using A Monochrome Camera, Colored Light and RGB Filters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arXiv preprint, Feb. 2025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 23rd Annual Hawaii International Conference on Education, Ja n . 4-7, 2025, Honolulu, Hawai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• Used color filters for accurate color segmentation.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• Demonstrated object sorting on conveyor using basic vision + filter technique.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3073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Designing of RGB Color Detector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Int. J. of Recent Development in Engineering and Technology, Aug. 2014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• Gave insight into RGB sensor circuit design.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• Helped identify how to calibrate colors using photodetectors.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9910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Design and development of a low cost colour sensor and its application in angular position control system of a stepper motor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Int. J. of Electronics and Computer Science Engineering (IJECSE), 2013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• Inspired microcontroller-free color sensing circuit idea.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• Linked color detection with motor-based sorting system.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4545568" y="-133350"/>
            <a:ext cx="7923372" cy="1160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6799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Literature Survey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0" y="1028700"/>
          <a:ext cx="18288000" cy="7232650"/>
        </p:xfrm>
        <a:graphic>
          <a:graphicData uri="http://schemas.openxmlformats.org/drawingml/2006/table">
            <a:tbl>
              <a:tblPr/>
              <a:tblGrid>
                <a:gridCol w="4294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6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57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12920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Title of Paper/Website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000000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Source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000000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Inferences from this Paper/Website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3292"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Automated Color Sensor System Using LDR and RGB LEDs Controlled by Arduino</a:t>
                      </a:r>
                      <a:endParaRPr lang="en-US" sz="1100"/>
                    </a:p>
                    <a:p>
                      <a:pPr algn="l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Ahmad Amhani and Zaki Iqbal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Dept. of Engineering, American University of Ras Al Khaimah, UAE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• Demonstrated a simple yet reliable method using sequential RGB illumination with LDR response.</a:t>
                      </a:r>
                      <a:endParaRPr lang="en-US" sz="1100"/>
                    </a:p>
                    <a:p>
                      <a:pPr algn="l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• Emphasized calibration of color thresholds using analog voltage outputs and mapping logic.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6438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WWCS – World’s Worst Color Sensor (Project14 Photonics Challenge)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Element14 Community Blog, Photonics Challenge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• Showed wavelength-based color separation technique and caturing all the reflected light from the object .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• Inspired use of geometry and filter design for analog color capture.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66137">
            <a:off x="-4113484" y="7428414"/>
            <a:ext cx="5210769" cy="6721137"/>
          </a:xfrm>
          <a:custGeom>
            <a:avLst/>
            <a:gdLst/>
            <a:ahLst/>
            <a:cxnLst/>
            <a:rect l="l" t="t" r="r" b="b"/>
            <a:pathLst>
              <a:path w="5210769" h="6721137">
                <a:moveTo>
                  <a:pt x="0" y="0"/>
                </a:moveTo>
                <a:lnTo>
                  <a:pt x="5210769" y="0"/>
                </a:lnTo>
                <a:lnTo>
                  <a:pt x="5210769" y="6721137"/>
                </a:lnTo>
                <a:lnTo>
                  <a:pt x="0" y="67211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569636">
            <a:off x="-4071365" y="-1949408"/>
            <a:ext cx="4096053" cy="7060062"/>
          </a:xfrm>
          <a:custGeom>
            <a:avLst/>
            <a:gdLst/>
            <a:ahLst/>
            <a:cxnLst/>
            <a:rect l="l" t="t" r="r" b="b"/>
            <a:pathLst>
              <a:path w="4096053" h="7060062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035107" y="1211543"/>
            <a:ext cx="3913070" cy="6215659"/>
          </a:xfrm>
          <a:custGeom>
            <a:avLst/>
            <a:gdLst/>
            <a:ahLst/>
            <a:cxnLst/>
            <a:rect l="l" t="t" r="r" b="b"/>
            <a:pathLst>
              <a:path w="3913070" h="6215659">
                <a:moveTo>
                  <a:pt x="0" y="0"/>
                </a:moveTo>
                <a:lnTo>
                  <a:pt x="3913070" y="0"/>
                </a:lnTo>
                <a:lnTo>
                  <a:pt x="3913070" y="6215658"/>
                </a:lnTo>
                <a:lnTo>
                  <a:pt x="0" y="62156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853177" y="1542416"/>
            <a:ext cx="4397397" cy="5599088"/>
          </a:xfrm>
          <a:custGeom>
            <a:avLst/>
            <a:gdLst/>
            <a:ahLst/>
            <a:cxnLst/>
            <a:rect l="l" t="t" r="r" b="b"/>
            <a:pathLst>
              <a:path w="4397397" h="5599088">
                <a:moveTo>
                  <a:pt x="0" y="0"/>
                </a:moveTo>
                <a:lnTo>
                  <a:pt x="4397397" y="0"/>
                </a:lnTo>
                <a:lnTo>
                  <a:pt x="4397397" y="5599087"/>
                </a:lnTo>
                <a:lnTo>
                  <a:pt x="0" y="55990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773591" y="0"/>
            <a:ext cx="4740819" cy="2423085"/>
          </a:xfrm>
          <a:custGeom>
            <a:avLst/>
            <a:gdLst/>
            <a:ahLst/>
            <a:cxnLst/>
            <a:rect l="l" t="t" r="r" b="b"/>
            <a:pathLst>
              <a:path w="4740819" h="2423085">
                <a:moveTo>
                  <a:pt x="0" y="0"/>
                </a:moveTo>
                <a:lnTo>
                  <a:pt x="4740818" y="0"/>
                </a:lnTo>
                <a:lnTo>
                  <a:pt x="4740818" y="2423085"/>
                </a:lnTo>
                <a:lnTo>
                  <a:pt x="0" y="24230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822066" y="2423085"/>
            <a:ext cx="2643867" cy="3247348"/>
          </a:xfrm>
          <a:custGeom>
            <a:avLst/>
            <a:gdLst/>
            <a:ahLst/>
            <a:cxnLst/>
            <a:rect l="l" t="t" r="r" b="b"/>
            <a:pathLst>
              <a:path w="2643867" h="3247348">
                <a:moveTo>
                  <a:pt x="0" y="0"/>
                </a:moveTo>
                <a:lnTo>
                  <a:pt x="2643868" y="0"/>
                </a:lnTo>
                <a:lnTo>
                  <a:pt x="2643868" y="3247348"/>
                </a:lnTo>
                <a:lnTo>
                  <a:pt x="0" y="32473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7056" t="-6506" r="-15426" b="-12883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773591" y="5827420"/>
            <a:ext cx="4229127" cy="4390897"/>
          </a:xfrm>
          <a:custGeom>
            <a:avLst/>
            <a:gdLst/>
            <a:ahLst/>
            <a:cxnLst/>
            <a:rect l="l" t="t" r="r" b="b"/>
            <a:pathLst>
              <a:path w="4229127" h="4390897">
                <a:moveTo>
                  <a:pt x="0" y="0"/>
                </a:moveTo>
                <a:lnTo>
                  <a:pt x="4229127" y="0"/>
                </a:lnTo>
                <a:lnTo>
                  <a:pt x="4229127" y="4390897"/>
                </a:lnTo>
                <a:lnTo>
                  <a:pt x="0" y="43908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-224070" y="381634"/>
            <a:ext cx="7253507" cy="1160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6799" dirty="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Block diagram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991642" y="5670433"/>
            <a:ext cx="1346182" cy="7751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flipV="1">
            <a:off x="10644658" y="5670433"/>
            <a:ext cx="1407217" cy="7751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flipV="1">
            <a:off x="8888154" y="7707436"/>
            <a:ext cx="0" cy="5127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H="1">
            <a:off x="8888154" y="8907824"/>
            <a:ext cx="0" cy="25639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7948177" y="9408344"/>
            <a:ext cx="628895" cy="283029"/>
            <a:chOff x="0" y="0"/>
            <a:chExt cx="165635" cy="7454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5635" cy="74543"/>
            </a:xfrm>
            <a:custGeom>
              <a:avLst/>
              <a:gdLst/>
              <a:ahLst/>
              <a:cxnLst/>
              <a:rect l="l" t="t" r="r" b="b"/>
              <a:pathLst>
                <a:path w="165635" h="74543">
                  <a:moveTo>
                    <a:pt x="37271" y="0"/>
                  </a:moveTo>
                  <a:lnTo>
                    <a:pt x="128363" y="0"/>
                  </a:lnTo>
                  <a:cubicBezTo>
                    <a:pt x="138248" y="0"/>
                    <a:pt x="147729" y="3927"/>
                    <a:pt x="154718" y="10917"/>
                  </a:cubicBezTo>
                  <a:cubicBezTo>
                    <a:pt x="161708" y="17906"/>
                    <a:pt x="165635" y="27386"/>
                    <a:pt x="165635" y="37271"/>
                  </a:cubicBezTo>
                  <a:lnTo>
                    <a:pt x="165635" y="37271"/>
                  </a:lnTo>
                  <a:cubicBezTo>
                    <a:pt x="165635" y="47156"/>
                    <a:pt x="161708" y="56636"/>
                    <a:pt x="154718" y="63626"/>
                  </a:cubicBezTo>
                  <a:cubicBezTo>
                    <a:pt x="147729" y="70616"/>
                    <a:pt x="138248" y="74543"/>
                    <a:pt x="128363" y="74543"/>
                  </a:cubicBezTo>
                  <a:lnTo>
                    <a:pt x="37271" y="74543"/>
                  </a:lnTo>
                  <a:cubicBezTo>
                    <a:pt x="27386" y="74543"/>
                    <a:pt x="17906" y="70616"/>
                    <a:pt x="10917" y="63626"/>
                  </a:cubicBezTo>
                  <a:cubicBezTo>
                    <a:pt x="3927" y="56636"/>
                    <a:pt x="0" y="47156"/>
                    <a:pt x="0" y="37271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F97317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65635" cy="1221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29724" y="-571500"/>
            <a:ext cx="6626483" cy="5715000"/>
          </a:xfrm>
          <a:custGeom>
            <a:avLst/>
            <a:gdLst/>
            <a:ahLst/>
            <a:cxnLst/>
            <a:rect l="l" t="t" r="r" b="b"/>
            <a:pathLst>
              <a:path w="6626483" h="5715000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266137">
            <a:off x="-3831920" y="6660021"/>
            <a:ext cx="5210769" cy="6721137"/>
          </a:xfrm>
          <a:custGeom>
            <a:avLst/>
            <a:gdLst/>
            <a:ahLst/>
            <a:cxnLst/>
            <a:rect l="l" t="t" r="r" b="b"/>
            <a:pathLst>
              <a:path w="5210769" h="6721137">
                <a:moveTo>
                  <a:pt x="0" y="0"/>
                </a:moveTo>
                <a:lnTo>
                  <a:pt x="5210769" y="0"/>
                </a:lnTo>
                <a:lnTo>
                  <a:pt x="5210769" y="6721137"/>
                </a:lnTo>
                <a:lnTo>
                  <a:pt x="0" y="67211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569636">
            <a:off x="779619" y="-2269556"/>
            <a:ext cx="4096053" cy="7060062"/>
          </a:xfrm>
          <a:custGeom>
            <a:avLst/>
            <a:gdLst/>
            <a:ahLst/>
            <a:cxnLst/>
            <a:rect l="l" t="t" r="r" b="b"/>
            <a:pathLst>
              <a:path w="4096053" h="7060062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3755510">
            <a:off x="14637629" y="5499669"/>
            <a:ext cx="4096053" cy="7060062"/>
          </a:xfrm>
          <a:custGeom>
            <a:avLst/>
            <a:gdLst/>
            <a:ahLst/>
            <a:cxnLst/>
            <a:rect l="l" t="t" r="r" b="b"/>
            <a:pathLst>
              <a:path w="4096053" h="7060062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11919" y="475476"/>
            <a:ext cx="14036662" cy="953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61"/>
              </a:lnSpc>
            </a:pPr>
            <a:r>
              <a:rPr lang="en-US" sz="7161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Working Principle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1919" y="1305074"/>
            <a:ext cx="16518636" cy="886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4"/>
              </a:lnSpc>
            </a:pPr>
            <a:r>
              <a:rPr lang="en-US" sz="2899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1. Illumination &amp; Reflection:</a:t>
            </a:r>
          </a:p>
          <a:p>
            <a:pPr marL="625966" lvl="1" indent="-312983" algn="l">
              <a:lnSpc>
                <a:spcPts val="2899"/>
              </a:lnSpc>
              <a:buFont typeface="Arial"/>
              <a:buChar char="•"/>
            </a:pPr>
            <a:r>
              <a:rPr lang="en-US" sz="2899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 single high-intensity White LED illuminates objects on a closed conveyor belt.</a:t>
            </a:r>
          </a:p>
          <a:p>
            <a:pPr marL="625966" lvl="1" indent="-312983" algn="l">
              <a:lnSpc>
                <a:spcPts val="4551"/>
              </a:lnSpc>
              <a:buFont typeface="Arial"/>
              <a:buChar char="•"/>
            </a:pPr>
            <a:r>
              <a:rPr lang="en-US" sz="2899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Each object reflects a specific combination of red, green, and blue light components based on its surface color.</a:t>
            </a:r>
          </a:p>
          <a:p>
            <a:pPr algn="l">
              <a:lnSpc>
                <a:spcPts val="1878"/>
              </a:lnSpc>
            </a:pPr>
            <a:endParaRPr lang="en-US" sz="2899" dirty="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algn="l">
              <a:lnSpc>
                <a:spcPts val="4551"/>
              </a:lnSpc>
            </a:pPr>
            <a:r>
              <a:rPr lang="en-US" sz="2899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2. Sensing &amp; Processing:</a:t>
            </a:r>
          </a:p>
          <a:p>
            <a:pPr marL="625966" lvl="1" indent="-312983" algn="l">
              <a:lnSpc>
                <a:spcPts val="4551"/>
              </a:lnSpc>
              <a:buFont typeface="Arial"/>
              <a:buChar char="•"/>
            </a:pPr>
            <a:r>
              <a:rPr lang="en-US" sz="2899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Three LDRs behind RGB filters detect specific reflected light wavelengths (R: 600–700 nm, G: 500–600 nm, B: 400–500 nm).</a:t>
            </a:r>
          </a:p>
          <a:p>
            <a:pPr marL="625966" lvl="1" indent="-312983" algn="l">
              <a:lnSpc>
                <a:spcPts val="4551"/>
              </a:lnSpc>
              <a:buFont typeface="Arial"/>
              <a:buChar char="•"/>
            </a:pPr>
            <a:r>
              <a:rPr lang="en-US" sz="2899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LDR resistance varies with light intensity, generating color-specific signals.</a:t>
            </a:r>
          </a:p>
          <a:p>
            <a:pPr marL="625966" lvl="1" indent="-312983" algn="l">
              <a:lnSpc>
                <a:spcPts val="4551"/>
              </a:lnSpc>
              <a:buFont typeface="Arial"/>
              <a:buChar char="•"/>
            </a:pPr>
            <a:r>
              <a:rPr lang="en-US" sz="2899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Voltage divider circuits convert resistance to analog voltage.</a:t>
            </a:r>
          </a:p>
          <a:p>
            <a:pPr algn="l">
              <a:lnSpc>
                <a:spcPts val="2040"/>
              </a:lnSpc>
            </a:pPr>
            <a:endParaRPr lang="en-US" sz="2899" dirty="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algn="l">
              <a:lnSpc>
                <a:spcPts val="4551"/>
              </a:lnSpc>
            </a:pPr>
            <a:r>
              <a:rPr lang="en-US" sz="2899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3. Digital Conversion &amp; Decoding:</a:t>
            </a:r>
          </a:p>
          <a:p>
            <a:pPr marL="625966" lvl="1" indent="-312983" algn="l">
              <a:lnSpc>
                <a:spcPts val="4551"/>
              </a:lnSpc>
              <a:buFont typeface="Arial"/>
              <a:buChar char="•"/>
            </a:pPr>
            <a:r>
              <a:rPr lang="en-US" sz="2899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Comparator circuits compare analog voltages with reference levels and output binary HIGH (1) or LOW (0).</a:t>
            </a:r>
          </a:p>
          <a:p>
            <a:pPr marL="625966" lvl="1" indent="-312983" algn="l">
              <a:lnSpc>
                <a:spcPts val="4551"/>
              </a:lnSpc>
              <a:buFont typeface="Arial"/>
              <a:buChar char="•"/>
            </a:pPr>
            <a:r>
              <a:rPr lang="en-US" sz="2899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three outputs (R, G, B) form a 3-bit digital code (e.g., 001 = Blue, 011 = Cyan).</a:t>
            </a:r>
          </a:p>
          <a:p>
            <a:pPr marL="625966" lvl="1" indent="-312983" algn="l">
              <a:lnSpc>
                <a:spcPts val="4551"/>
              </a:lnSpc>
              <a:buFont typeface="Arial"/>
              <a:buChar char="•"/>
            </a:pPr>
            <a:r>
              <a:rPr lang="en-US" sz="2899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This code is input to a 3-to-8 decoder, which activates one unique output corresponding to the detected color.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10204" y="-571500"/>
            <a:ext cx="6626483" cy="5715000"/>
          </a:xfrm>
          <a:custGeom>
            <a:avLst/>
            <a:gdLst/>
            <a:ahLst/>
            <a:cxnLst/>
            <a:rect l="l" t="t" r="r" b="b"/>
            <a:pathLst>
              <a:path w="6626483" h="5715000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569636">
            <a:off x="779619" y="-2269556"/>
            <a:ext cx="4096053" cy="7060062"/>
          </a:xfrm>
          <a:custGeom>
            <a:avLst/>
            <a:gdLst/>
            <a:ahLst/>
            <a:cxnLst/>
            <a:rect l="l" t="t" r="r" b="b"/>
            <a:pathLst>
              <a:path w="4096053" h="7060062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3755510">
            <a:off x="14637629" y="5499669"/>
            <a:ext cx="4096053" cy="7060062"/>
          </a:xfrm>
          <a:custGeom>
            <a:avLst/>
            <a:gdLst/>
            <a:ahLst/>
            <a:cxnLst/>
            <a:rect l="l" t="t" r="r" b="b"/>
            <a:pathLst>
              <a:path w="4096053" h="7060062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26182" y="1028700"/>
            <a:ext cx="6674556" cy="4624314"/>
          </a:xfrm>
          <a:custGeom>
            <a:avLst/>
            <a:gdLst/>
            <a:ahLst/>
            <a:cxnLst/>
            <a:rect l="l" t="t" r="r" b="b"/>
            <a:pathLst>
              <a:path w="6674556" h="4624314">
                <a:moveTo>
                  <a:pt x="0" y="0"/>
                </a:moveTo>
                <a:lnTo>
                  <a:pt x="6674557" y="0"/>
                </a:lnTo>
                <a:lnTo>
                  <a:pt x="6674557" y="4624314"/>
                </a:lnTo>
                <a:lnTo>
                  <a:pt x="0" y="46243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32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680373" y="2750119"/>
            <a:ext cx="8061479" cy="6279581"/>
          </a:xfrm>
          <a:custGeom>
            <a:avLst/>
            <a:gdLst/>
            <a:ahLst/>
            <a:cxnLst/>
            <a:rect l="l" t="t" r="r" b="b"/>
            <a:pathLst>
              <a:path w="8061479" h="6279581">
                <a:moveTo>
                  <a:pt x="0" y="0"/>
                </a:moveTo>
                <a:lnTo>
                  <a:pt x="8061479" y="0"/>
                </a:lnTo>
                <a:lnTo>
                  <a:pt x="8061479" y="6279581"/>
                </a:lnTo>
                <a:lnTo>
                  <a:pt x="0" y="62795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26182" y="5653014"/>
            <a:ext cx="7391664" cy="4444238"/>
          </a:xfrm>
          <a:custGeom>
            <a:avLst/>
            <a:gdLst/>
            <a:ahLst/>
            <a:cxnLst/>
            <a:rect l="l" t="t" r="r" b="b"/>
            <a:pathLst>
              <a:path w="7391664" h="4444238">
                <a:moveTo>
                  <a:pt x="0" y="0"/>
                </a:moveTo>
                <a:lnTo>
                  <a:pt x="7391664" y="0"/>
                </a:lnTo>
                <a:lnTo>
                  <a:pt x="7391664" y="4444238"/>
                </a:lnTo>
                <a:lnTo>
                  <a:pt x="0" y="44442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73610" y="-6635"/>
            <a:ext cx="15013526" cy="1035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1"/>
              </a:lnSpc>
            </a:pPr>
            <a:r>
              <a:rPr lang="en-US" sz="7761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Graphs from Research Paper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32768" y="6483165"/>
            <a:ext cx="815396" cy="383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LDR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580650" y="6060724"/>
            <a:ext cx="1084309" cy="436449"/>
            <a:chOff x="0" y="0"/>
            <a:chExt cx="285579" cy="1149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5579" cy="114950"/>
            </a:xfrm>
            <a:custGeom>
              <a:avLst/>
              <a:gdLst/>
              <a:ahLst/>
              <a:cxnLst/>
              <a:rect l="l" t="t" r="r" b="b"/>
              <a:pathLst>
                <a:path w="285579" h="114950">
                  <a:moveTo>
                    <a:pt x="57475" y="0"/>
                  </a:moveTo>
                  <a:lnTo>
                    <a:pt x="228104" y="0"/>
                  </a:lnTo>
                  <a:cubicBezTo>
                    <a:pt x="259847" y="0"/>
                    <a:pt x="285579" y="25732"/>
                    <a:pt x="285579" y="57475"/>
                  </a:cubicBezTo>
                  <a:lnTo>
                    <a:pt x="285579" y="57475"/>
                  </a:lnTo>
                  <a:cubicBezTo>
                    <a:pt x="285579" y="72718"/>
                    <a:pt x="279524" y="87337"/>
                    <a:pt x="268745" y="98116"/>
                  </a:cubicBezTo>
                  <a:cubicBezTo>
                    <a:pt x="257967" y="108894"/>
                    <a:pt x="243348" y="114950"/>
                    <a:pt x="228104" y="114950"/>
                  </a:cubicBezTo>
                  <a:lnTo>
                    <a:pt x="57475" y="114950"/>
                  </a:lnTo>
                  <a:cubicBezTo>
                    <a:pt x="25732" y="114950"/>
                    <a:pt x="0" y="89217"/>
                    <a:pt x="0" y="57475"/>
                  </a:cubicBezTo>
                  <a:lnTo>
                    <a:pt x="0" y="57475"/>
                  </a:lnTo>
                  <a:cubicBezTo>
                    <a:pt x="0" y="25732"/>
                    <a:pt x="25732" y="0"/>
                    <a:pt x="57475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85579" cy="162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66137">
            <a:off x="-561796" y="7980875"/>
            <a:ext cx="5210769" cy="6721137"/>
          </a:xfrm>
          <a:custGeom>
            <a:avLst/>
            <a:gdLst/>
            <a:ahLst/>
            <a:cxnLst/>
            <a:rect l="l" t="t" r="r" b="b"/>
            <a:pathLst>
              <a:path w="5210769" h="6721137">
                <a:moveTo>
                  <a:pt x="0" y="0"/>
                </a:moveTo>
                <a:lnTo>
                  <a:pt x="5210769" y="0"/>
                </a:lnTo>
                <a:lnTo>
                  <a:pt x="5210769" y="6721137"/>
                </a:lnTo>
                <a:lnTo>
                  <a:pt x="0" y="67211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569636">
            <a:off x="-1471385" y="-2370520"/>
            <a:ext cx="4096053" cy="7060062"/>
          </a:xfrm>
          <a:custGeom>
            <a:avLst/>
            <a:gdLst/>
            <a:ahLst/>
            <a:cxnLst/>
            <a:rect l="l" t="t" r="r" b="b"/>
            <a:pathLst>
              <a:path w="4096053" h="7060062">
                <a:moveTo>
                  <a:pt x="0" y="0"/>
                </a:moveTo>
                <a:lnTo>
                  <a:pt x="4096053" y="0"/>
                </a:lnTo>
                <a:lnTo>
                  <a:pt x="4096053" y="7060061"/>
                </a:lnTo>
                <a:lnTo>
                  <a:pt x="0" y="70600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3755510">
            <a:off x="14637629" y="5499669"/>
            <a:ext cx="4096053" cy="7060062"/>
          </a:xfrm>
          <a:custGeom>
            <a:avLst/>
            <a:gdLst/>
            <a:ahLst/>
            <a:cxnLst/>
            <a:rect l="l" t="t" r="r" b="b"/>
            <a:pathLst>
              <a:path w="4096053" h="7060062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979027" y="452120"/>
            <a:ext cx="5060573" cy="12623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219"/>
              </a:lnSpc>
            </a:pPr>
            <a:r>
              <a:rPr lang="en-US" sz="7299" dirty="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Inference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0418" y="2047875"/>
            <a:ext cx="18017582" cy="694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11" lvl="1" indent="-323856" algn="l">
              <a:lnSpc>
                <a:spcPts val="615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Real-time color identification and sorting without microcontrollers or programming.</a:t>
            </a:r>
          </a:p>
          <a:p>
            <a:pPr marL="647711" lvl="1" indent="-323856" algn="l">
              <a:lnSpc>
                <a:spcPts val="615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Operates entirely on analog and digital electronics for a cost-effective solution.</a:t>
            </a:r>
          </a:p>
          <a:p>
            <a:pPr marL="647711" lvl="1" indent="-323856" algn="l">
              <a:lnSpc>
                <a:spcPts val="615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LDRs with RGB filters detect reflected light from objects on a conveyor belt.</a:t>
            </a:r>
          </a:p>
          <a:p>
            <a:pPr marL="647711" lvl="1" indent="-323856" algn="l">
              <a:lnSpc>
                <a:spcPts val="615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Light signals converted to voltage, processed via op-amps and comparators.</a:t>
            </a:r>
          </a:p>
          <a:p>
            <a:pPr marL="647711" lvl="1" indent="-323856" algn="l">
              <a:lnSpc>
                <a:spcPts val="615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Signals translated into a 3-bit binary RGB code for color representation.</a:t>
            </a:r>
          </a:p>
          <a:p>
            <a:pPr marL="647711" lvl="1" indent="-323856" algn="l">
              <a:lnSpc>
                <a:spcPts val="615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3-to-8 decoder activates actuators to sort objects by color.</a:t>
            </a:r>
          </a:p>
          <a:p>
            <a:pPr marL="647711" lvl="1" indent="-323856" algn="l">
              <a:lnSpc>
                <a:spcPts val="615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555 timer (monostable multivibrator) ensures precise sorting timing.</a:t>
            </a:r>
          </a:p>
          <a:p>
            <a:pPr marL="647711" lvl="1" indent="-323856" algn="l">
              <a:lnSpc>
                <a:spcPts val="615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Capable of identifying up to 7 distinct colors.</a:t>
            </a:r>
          </a:p>
          <a:p>
            <a:pPr algn="l">
              <a:lnSpc>
                <a:spcPts val="6150"/>
              </a:lnSpc>
            </a:pPr>
            <a:endParaRPr lang="en-US" sz="300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10204" y="-571500"/>
            <a:ext cx="6626483" cy="5715000"/>
          </a:xfrm>
          <a:custGeom>
            <a:avLst/>
            <a:gdLst/>
            <a:ahLst/>
            <a:cxnLst/>
            <a:rect l="l" t="t" r="r" b="b"/>
            <a:pathLst>
              <a:path w="6626483" h="5715000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266137">
            <a:off x="-1277219" y="5897732"/>
            <a:ext cx="5210769" cy="6721137"/>
          </a:xfrm>
          <a:custGeom>
            <a:avLst/>
            <a:gdLst/>
            <a:ahLst/>
            <a:cxnLst/>
            <a:rect l="l" t="t" r="r" b="b"/>
            <a:pathLst>
              <a:path w="5210769" h="6721137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569636">
            <a:off x="779619" y="-2269556"/>
            <a:ext cx="4096053" cy="7060062"/>
          </a:xfrm>
          <a:custGeom>
            <a:avLst/>
            <a:gdLst/>
            <a:ahLst/>
            <a:cxnLst/>
            <a:rect l="l" t="t" r="r" b="b"/>
            <a:pathLst>
              <a:path w="4096053" h="7060062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3755510">
            <a:off x="14637629" y="5499669"/>
            <a:ext cx="4096053" cy="7060062"/>
          </a:xfrm>
          <a:custGeom>
            <a:avLst/>
            <a:gdLst/>
            <a:ahLst/>
            <a:cxnLst/>
            <a:rect l="l" t="t" r="r" b="b"/>
            <a:pathLst>
              <a:path w="4096053" h="7060062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321309"/>
            <a:ext cx="4899541" cy="1262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19"/>
              </a:lnSpc>
            </a:pPr>
            <a:r>
              <a:rPr lang="en-US" sz="7299" dirty="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Reference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8902" y="1301750"/>
            <a:ext cx="16786124" cy="9204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38"/>
              </a:lnSpc>
            </a:pPr>
            <a:r>
              <a:rPr lang="en-US" sz="2767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[1] I. Mazumdar, R. Mondal, and S. Pal, “Design and development of a low cost </a:t>
            </a:r>
            <a:r>
              <a:rPr lang="en-US" sz="2767" dirty="0" err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colour</a:t>
            </a:r>
            <a:r>
              <a:rPr lang="en-US" sz="2767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sensor and its application in angular position control system of a stepper motor,” Int. J. Electron. </a:t>
            </a:r>
            <a:r>
              <a:rPr lang="en-US" sz="2767" dirty="0" err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Comput</a:t>
            </a:r>
            <a:r>
              <a:rPr lang="en-US" sz="2767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. Sci. Eng. (IJECSE), vol. 2, no. 4, pp. 1241–1251, 2013.</a:t>
            </a:r>
          </a:p>
          <a:p>
            <a:pPr algn="l">
              <a:lnSpc>
                <a:spcPts val="122"/>
              </a:lnSpc>
            </a:pPr>
            <a:endParaRPr lang="en-US" sz="2767" dirty="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algn="l">
              <a:lnSpc>
                <a:spcPts val="4538"/>
              </a:lnSpc>
            </a:pPr>
            <a:r>
              <a:rPr lang="en-US" sz="2767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[2] T. K. </a:t>
            </a:r>
            <a:r>
              <a:rPr lang="en-US" sz="2767" dirty="0" err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Binnar</a:t>
            </a:r>
            <a:r>
              <a:rPr lang="en-US" sz="2767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D. D. </a:t>
            </a:r>
            <a:r>
              <a:rPr lang="en-US" sz="2767" dirty="0" err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Deoghare</a:t>
            </a:r>
            <a:r>
              <a:rPr lang="en-US" sz="2767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P. N. Patil, and V. S. Kulkarni, “Designing of RGB Color Detector,” Int. J. Recent Dev. Eng. Technol., vol. 3, no. 2, p. 12, Aug. 2014.</a:t>
            </a:r>
          </a:p>
          <a:p>
            <a:pPr algn="l">
              <a:lnSpc>
                <a:spcPts val="4538"/>
              </a:lnSpc>
            </a:pPr>
            <a:r>
              <a:rPr lang="en-US" sz="2767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[3] M. Petersen, B. </a:t>
            </a:r>
            <a:r>
              <a:rPr lang="en-US" sz="2767" dirty="0" err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Lakenen</a:t>
            </a:r>
            <a:r>
              <a:rPr lang="en-US" sz="2767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K. Chavan, P. Waghmare, A. Sergeyev, and N. Rawashdeh, “Conveyor line color object sorting using a monochrome camera, colored light and RGB filters,” in Proc. 23rd Annu. Hawaii Int. Conf. Educ., Honolulu, HI, USA, Jan. 4–7, 2025.</a:t>
            </a:r>
          </a:p>
          <a:p>
            <a:pPr algn="l">
              <a:lnSpc>
                <a:spcPts val="4538"/>
              </a:lnSpc>
            </a:pPr>
            <a:r>
              <a:rPr lang="en-US" sz="2767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[4] A. </a:t>
            </a:r>
            <a:r>
              <a:rPr lang="en-US" sz="2767" dirty="0" err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Amhani</a:t>
            </a:r>
            <a:r>
              <a:rPr lang="en-US" sz="2767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and Z. Iqbal, “Automated color sensor system using LDR and RGB LEDs controlled by Arduino,” ARPN J. Eng. Appl. Sci., vol. 12, no. 19, pp. 5532–5535, Oct. 2017.</a:t>
            </a:r>
          </a:p>
          <a:p>
            <a:pPr algn="l">
              <a:lnSpc>
                <a:spcPts val="4538"/>
              </a:lnSpc>
            </a:pPr>
            <a:r>
              <a:rPr lang="en-US" sz="2767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[5] D. P. Martin, “WWCS — World’s Worst Color Sensor — Project14 Photonics Challenge,” element14 Community, Jul. 2, 2018. [Online]. Available: </a:t>
            </a:r>
            <a:r>
              <a:rPr lang="en-US" sz="2767" u="sng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  <a:hlinkClick r:id="rId8" tooltip="https://community.element14.com/challenges-projects/project14/photonics/b/blog/posts/wwcs---world-s-worst-color-sensor---project-14-photonics-challenge"/>
              </a:rPr>
              <a:t>https://community.element14.com/challenges-projects/project14/photonics/b/blog/posts/wwcs---world-s-worst-color-sensor---project-14-photonics-challenge</a:t>
            </a:r>
            <a:r>
              <a:rPr lang="en-US" sz="2767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. [Accessed: Jul. 19, 2025].</a:t>
            </a:r>
          </a:p>
          <a:p>
            <a:pPr algn="l">
              <a:lnSpc>
                <a:spcPts val="4538"/>
              </a:lnSpc>
            </a:pPr>
            <a:endParaRPr lang="en-US" sz="2767" dirty="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83182" y="3651250"/>
            <a:ext cx="11721636" cy="3462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99"/>
              </a:lnSpc>
            </a:pPr>
            <a:r>
              <a:rPr lang="en-US" sz="13299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Thank</a:t>
            </a:r>
          </a:p>
          <a:p>
            <a:pPr algn="ctr">
              <a:lnSpc>
                <a:spcPts val="13299"/>
              </a:lnSpc>
            </a:pPr>
            <a:r>
              <a:rPr lang="en-US" sz="13299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You</a:t>
            </a:r>
          </a:p>
        </p:txBody>
      </p:sp>
      <p:sp>
        <p:nvSpPr>
          <p:cNvPr id="3" name="Freeform 3"/>
          <p:cNvSpPr/>
          <p:nvPr/>
        </p:nvSpPr>
        <p:spPr>
          <a:xfrm>
            <a:off x="15649059" y="-128401"/>
            <a:ext cx="6626483" cy="5715000"/>
          </a:xfrm>
          <a:custGeom>
            <a:avLst/>
            <a:gdLst/>
            <a:ahLst/>
            <a:cxnLst/>
            <a:rect l="l" t="t" r="r" b="b"/>
            <a:pathLst>
              <a:path w="6626483" h="5715000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266137">
            <a:off x="-2177621" y="5244941"/>
            <a:ext cx="5210769" cy="6721137"/>
          </a:xfrm>
          <a:custGeom>
            <a:avLst/>
            <a:gdLst/>
            <a:ahLst/>
            <a:cxnLst/>
            <a:rect l="l" t="t" r="r" b="b"/>
            <a:pathLst>
              <a:path w="5210769" h="6721137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569636">
            <a:off x="-2391598" y="-1625518"/>
            <a:ext cx="4096053" cy="7060062"/>
          </a:xfrm>
          <a:custGeom>
            <a:avLst/>
            <a:gdLst/>
            <a:ahLst/>
            <a:cxnLst/>
            <a:rect l="l" t="t" r="r" b="b"/>
            <a:pathLst>
              <a:path w="4096053" h="7060062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3755510">
            <a:off x="14637629" y="5499669"/>
            <a:ext cx="4096053" cy="7060062"/>
          </a:xfrm>
          <a:custGeom>
            <a:avLst/>
            <a:gdLst/>
            <a:ahLst/>
            <a:cxnLst/>
            <a:rect l="l" t="t" r="r" b="b"/>
            <a:pathLst>
              <a:path w="4096053" h="7060062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283182" y="666750"/>
            <a:ext cx="11721636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Amrita Vishwa Vidyapeetham</a:t>
            </a: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Department of Electronics and Communication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1012</Words>
  <Application>Microsoft Office PowerPoint</Application>
  <PresentationFormat>Custom</PresentationFormat>
  <Paragraphs>84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Lab Review 1 </dc:title>
  <cp:lastModifiedBy>Ezhilkirthik M</cp:lastModifiedBy>
  <cp:revision>3</cp:revision>
  <dcterms:created xsi:type="dcterms:W3CDTF">2006-08-16T00:00:00Z</dcterms:created>
  <dcterms:modified xsi:type="dcterms:W3CDTF">2025-10-10T10:28:14Z</dcterms:modified>
  <dc:identifier>DAGtaP6LRSE</dc:identifier>
</cp:coreProperties>
</file>